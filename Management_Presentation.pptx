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Goal: grow sales while protecting profitability.</a:t>
            </a:r>
          </a:p>
          <a:p>
            <a:pPr>
              <a:spcAft>
                <a:spcPts val="1600"/>
              </a:spcAft>
              <a:defRPr sz="2000"/>
            </a:pPr>
            <a:r>
              <a:t>Focus on discount-related margin leakage and low-profit product areas.</a:t>
            </a:r>
          </a:p>
          <a:p>
            <a:pPr>
              <a:spcAft>
                <a:spcPts val="1600"/>
              </a:spcAft>
              <a:defRPr sz="2000"/>
            </a:pPr>
            <a:r>
              <a:t>Management needs simple, actionable insights rather than technical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Dataset: Tableau Sample - Superstore.</a:t>
            </a:r>
          </a:p>
          <a:p>
            <a:pPr>
              <a:spcAft>
                <a:spcPts val="1600"/>
              </a:spcAft>
              <a:defRPr sz="2000"/>
            </a:pPr>
            <a:r>
              <a:t>9,994 transaction rows and 21 source columns.</a:t>
            </a:r>
          </a:p>
          <a:p>
            <a:pPr>
              <a:spcAft>
                <a:spcPts val="1600"/>
              </a:spcAft>
              <a:defRPr sz="2000"/>
            </a:pPr>
            <a:r>
              <a:t>Cleaned dates, validated quality, created margin/discount/time fields.</a:t>
            </a:r>
          </a:p>
          <a:p>
            <a:pPr>
              <a:spcAft>
                <a:spcPts val="1600"/>
              </a:spcAft>
              <a:defRPr sz="2000"/>
            </a:pPr>
            <a:r>
              <a:t>Used order-level aggregation where appropriate and flagged outliers without deleting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Furniture = 32.3% of sales but only 6.4% of profit.</a:t>
            </a:r>
          </a:p>
          <a:p>
            <a:pPr>
              <a:spcAft>
                <a:spcPts val="1600"/>
              </a:spcAft>
              <a:defRPr sz="2000"/>
            </a:pPr>
            <a:r>
              <a:t>&gt;30% discounts produce a strongly negative aggregate margin.</a:t>
            </a:r>
          </a:p>
          <a:p>
            <a:pPr>
              <a:spcAft>
                <a:spcPts val="1600"/>
              </a:spcAft>
              <a:defRPr sz="2000"/>
            </a:pPr>
            <a:r>
              <a:t>West has the best regional margin; Central has the weakest.</a:t>
            </a:r>
          </a:p>
          <a:p>
            <a:pPr>
              <a:spcAft>
                <a:spcPts val="1600"/>
              </a:spcAft>
              <a:defRPr sz="2000"/>
            </a:pPr>
            <a:r>
              <a:t>Home Office has the highest segment margin.</a:t>
            </a:r>
          </a:p>
          <a:p>
            <a:pPr>
              <a:spcAft>
                <a:spcPts val="1600"/>
              </a:spcAft>
              <a:defRPr sz="2000"/>
            </a:pPr>
            <a:r>
              <a:t>Sales grew strongly from 2014 to 2017, while margin needs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Deep-Dive: Discount &amp;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Discount vs row-level profit-margin correlation: -0.864.</a:t>
            </a:r>
          </a:p>
          <a:p>
            <a:pPr>
              <a:spcAft>
                <a:spcPts val="1600"/>
              </a:spcAft>
              <a:defRPr sz="2000"/>
            </a:pPr>
            <a:r>
              <a:t>0% discount margin: 29.5%.</a:t>
            </a:r>
          </a:p>
          <a:p>
            <a:pPr>
              <a:spcAft>
                <a:spcPts val="1600"/>
              </a:spcAft>
              <a:defRPr sz="2000"/>
            </a:pPr>
            <a:r>
              <a:t>&gt;30% discount margin: -48.2%.</a:t>
            </a:r>
          </a:p>
          <a:p>
            <a:pPr>
              <a:spcAft>
                <a:spcPts val="1600"/>
              </a:spcAft>
              <a:defRPr sz="2000"/>
            </a:pPr>
            <a:r>
              <a:t>Interpretation: strong association, not proof of causation.</a:t>
            </a:r>
          </a:p>
          <a:p>
            <a:pPr>
              <a:spcAft>
                <a:spcPts val="1600"/>
              </a:spcAft>
              <a:defRPr sz="2000"/>
            </a:pPr>
            <a:r>
              <a:t>Next step: test pricing/discount policies with cost and product-mix controls.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1) Tighten discount governance; require approval for high discounts.</a:t>
            </a:r>
          </a:p>
          <a:p>
            <a:pPr>
              <a:spcAft>
                <a:spcPts val="1600"/>
              </a:spcAft>
              <a:defRPr sz="2000"/>
            </a:pPr>
            <a:r>
              <a:t>2) Run a Furniture profitability recovery plan, prioritizing Tables.</a:t>
            </a:r>
          </a:p>
          <a:p>
            <a:pPr>
              <a:spcAft>
                <a:spcPts val="1600"/>
              </a:spcAft>
              <a:defRPr sz="2000"/>
            </a:pPr>
            <a:r>
              <a:t>3) Scale profitable Home Office opportunities and review Central-region economics.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Expected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Lower margin leakage from excessive discounting.</a:t>
            </a:r>
          </a:p>
          <a:p>
            <a:pPr>
              <a:spcAft>
                <a:spcPts val="1600"/>
              </a:spcAft>
              <a:defRPr sz="2000"/>
            </a:pPr>
            <a:r>
              <a:t>Improve Furniture/Tables profitability.</a:t>
            </a:r>
          </a:p>
          <a:p>
            <a:pPr>
              <a:spcAft>
                <a:spcPts val="1600"/>
              </a:spcAft>
              <a:defRPr sz="2000"/>
            </a:pPr>
            <a:r>
              <a:t>Shift growth toward stronger-margin segments and regions.</a:t>
            </a:r>
          </a:p>
          <a:p>
            <a:pPr>
              <a:spcAft>
                <a:spcPts val="1600"/>
              </a:spcAft>
              <a:defRPr sz="2000"/>
            </a:pPr>
            <a:r>
              <a:t>Track: profit margin, discount mix, category profit, segment growth and regional margin.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Historical/fictitious sample data; not current company performance.</a:t>
            </a:r>
          </a:p>
          <a:p>
            <a:pPr>
              <a:spcAft>
                <a:spcPts val="1600"/>
              </a:spcAft>
              <a:defRPr sz="2000"/>
            </a:pPr>
            <a:r>
              <a:t>No detailed cost, inventory, competitor or campaign variables.</a:t>
            </a:r>
          </a:p>
          <a:p>
            <a:pPr>
              <a:spcAft>
                <a:spcPts val="1600"/>
              </a:spcAft>
              <a:defRPr sz="2000"/>
            </a:pPr>
            <a:r>
              <a:t>Cannot safely conclude that discounts caused losses.</a:t>
            </a:r>
          </a:p>
          <a:p>
            <a:pPr>
              <a:spcAft>
                <a:spcPts val="1600"/>
              </a:spcAft>
              <a:defRPr sz="2000"/>
            </a:pPr>
            <a:r>
              <a:t>Next: controlled pricing tests, customer-level profitability, cost-to-serve and inventory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